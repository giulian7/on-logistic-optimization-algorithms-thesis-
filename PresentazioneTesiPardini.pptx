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0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media/image2.gif" ContentType="image/gif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x="9144000" cy="6858000"/>
  <p:notesSz cx="7099300" cy="102346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9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Heavy"/>
              </a:rPr>
              <a:t>Click to move the slide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6EE1FCC-2768-4CFA-A069-1EEE162D34C7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Num" idx="4"/>
          </p:nvPr>
        </p:nvSpPr>
        <p:spPr>
          <a:xfrm>
            <a:off x="4021200" y="97218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840" rIns="96840" tIns="48240" bIns="48240" anchor="b">
            <a:noAutofit/>
          </a:bodyPr>
          <a:lstStyle>
            <a:lvl1pPr indent="0" algn="r" defTabSz="988920">
              <a:lnSpc>
                <a:spcPct val="100000"/>
              </a:lnSpc>
              <a:buNone/>
              <a:defRPr lang="it-IT" sz="13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88920">
              <a:lnSpc>
                <a:spcPct val="100000"/>
              </a:lnSpc>
              <a:buNone/>
            </a:pPr>
            <a:fld id="{7D9C9B4F-4196-4D08-A409-4A4904613BDA}" type="slidenum">
              <a:rPr lang="it-IT" sz="1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&lt;number&gt;</a:t>
            </a:fld>
            <a:endParaRPr lang="it-IT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709560" y="4862520"/>
            <a:ext cx="5679720" cy="46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840" rIns="96840" tIns="48240" bIns="4824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09560" y="4862520"/>
            <a:ext cx="5679720" cy="46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840" rIns="96840" tIns="48240" bIns="4824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5"/>
          </p:nvPr>
        </p:nvSpPr>
        <p:spPr>
          <a:xfrm>
            <a:off x="4021200" y="97218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6840" rIns="96840" tIns="48240" bIns="48240" anchor="b">
            <a:noAutofit/>
          </a:bodyPr>
          <a:lstStyle>
            <a:lvl1pPr indent="0" algn="r" defTabSz="966960">
              <a:lnSpc>
                <a:spcPct val="100000"/>
              </a:lnSpc>
              <a:buNone/>
              <a:defRPr lang="it-IT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defRPr>
            </a:lvl1pPr>
          </a:lstStyle>
          <a:p>
            <a:pPr indent="0" algn="r" defTabSz="966960">
              <a:lnSpc>
                <a:spcPct val="100000"/>
              </a:lnSpc>
              <a:buNone/>
            </a:pPr>
            <a:fld id="{9A29D2DB-0E4C-4579-9C0E-E8E5315C6F28}" type="slidenum">
              <a:rPr lang="it-IT" sz="1300" b="0" u="none" strike="noStrike">
                <a:solidFill>
                  <a:schemeClr val="dk1"/>
                </a:solidFill>
                <a:effectLst/>
                <a:uFillTx/>
                <a:latin typeface="Arial"/>
                <a:ea typeface="+mn-ea"/>
              </a:rPr>
              <a:t>&lt;number&gt;</a:t>
            </a:fld>
            <a:endParaRPr lang="it-IT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gi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5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7" hidden="1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Rectangle 39" hidden="1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9" name="AutoShape 7"/>
          <p:cNvSpPr/>
          <p:nvPr/>
        </p:nvSpPr>
        <p:spPr>
          <a:xfrm>
            <a:off x="324000" y="404640"/>
            <a:ext cx="8496000" cy="2592000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620640"/>
            <a:ext cx="7772040" cy="2087280"/>
          </a:xfrm>
          <a:prstGeom prst="rect">
            <a:avLst/>
          </a:prstGeom>
          <a:noFill/>
          <a:ln w="9360">
            <a:noFill/>
          </a:ln>
          <a:effectLst>
            <a:outerShdw dist="35638" dir="2700000" rotWithShape="0">
              <a:srgbClr val="808080">
                <a:alpha val="50000"/>
              </a:srgbClr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"/>
              </a:rPr>
              <a:t>Energy-efficient Data Collection in Wireless Sensor Networks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Click to edit the outline text format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 Outline Level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Third Outline Level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Fourth Outline Level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Fifth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Sixth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Seventh Outline Level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86421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1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5D3DB86F-833F-49D7-BD47-67F91017BAA5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2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2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2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2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15080" y="44280"/>
            <a:ext cx="2177640" cy="6697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79280" y="44280"/>
            <a:ext cx="6382800" cy="6697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31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1757D621-D193-4E3A-A04C-5E3D6ADB8C65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olo e contenuto sopra tes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3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3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3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8642160" cy="28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250920" y="3936960"/>
            <a:ext cx="8642160" cy="2804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olo, testo e 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4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4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4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4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42447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48320" y="981000"/>
            <a:ext cx="42447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52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DC16186C-8CAC-4B1A-B0AE-E79BFFD11CAD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OverObj" preserve="1">
  <p:cSld name="Titolo e testo sopra 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54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55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56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7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58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8642160" cy="28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250920" y="3936960"/>
            <a:ext cx="8642160" cy="2804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63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5BAE8756-94D1-4573-8F8D-439E9D6377A5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Media" preserve="1">
  <p:cSld name="Titolo, testo e Clip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65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66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67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8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69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42447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648320" y="981000"/>
            <a:ext cx="4244760" cy="57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Click to edit the outline text format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Third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Fourth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Fifth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Sixth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Seventh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74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F6CB441F-0C80-4B46-852C-D4275804F474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olo, contenuto e contenut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76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77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78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9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80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42447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48320" y="981000"/>
            <a:ext cx="4244760" cy="28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648320" y="3936960"/>
            <a:ext cx="4244760" cy="2804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86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72D5FBA2-6F75-4C1E-91EC-ABB6222EDAE8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Titolo e tabell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88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89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90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1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92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8642160" cy="57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Click to edit the outline text format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Third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Fourth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Fifth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Sixth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4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Seventh Outline Level</a:t>
            </a:r>
            <a:endParaRPr lang="it-IT" sz="4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96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7488FFF2-BB24-4013-8ADD-B3E65735E3EC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olo e  contenuto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98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99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00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01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02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4244760" cy="28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48320" y="981000"/>
            <a:ext cx="4244760" cy="280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250920" y="3936960"/>
            <a:ext cx="4244760" cy="2804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4648320" y="3936960"/>
            <a:ext cx="4244760" cy="2804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09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0742C472-5A59-4FCD-9EB5-0AF0E91BD214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11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12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13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14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15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17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27640" y="44280"/>
            <a:ext cx="734436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86421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pic>
        <p:nvPicPr>
          <p:cNvPr id="120" name="Picture 6"/>
          <p:cNvPicPr/>
          <p:nvPr/>
        </p:nvPicPr>
        <p:blipFill>
          <a:blip r:embed="rId3"/>
          <a:stretch/>
        </p:blipFill>
        <p:spPr>
          <a:xfrm>
            <a:off x="17640" y="-14400"/>
            <a:ext cx="790920" cy="80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Rectangle 7"/>
          <p:cNvSpPr/>
          <p:nvPr/>
        </p:nvSpPr>
        <p:spPr>
          <a:xfrm>
            <a:off x="8172360" y="0"/>
            <a:ext cx="953640" cy="953640"/>
          </a:xfrm>
          <a:prstGeom prst="rect">
            <a:avLst/>
          </a:prstGeom>
          <a:solidFill>
            <a:schemeClr val="bg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2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2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2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2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1" u="none" strike="noStrike" cap="all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31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E0FF54B6-3290-44C6-BD23-29B00D0ABE30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3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3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3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3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3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39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250920" y="981000"/>
            <a:ext cx="42447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7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48320" y="981000"/>
            <a:ext cx="42447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7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pic>
        <p:nvPicPr>
          <p:cNvPr id="143" name="Picture 5"/>
          <p:cNvPicPr/>
          <p:nvPr/>
        </p:nvPicPr>
        <p:blipFill>
          <a:blip r:embed="rId3"/>
          <a:stretch/>
        </p:blipFill>
        <p:spPr>
          <a:xfrm>
            <a:off x="8372880" y="5976000"/>
            <a:ext cx="704880" cy="6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 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62BBA5C7-D1DB-4153-9556-8142EA36241A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46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47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48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9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50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00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00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1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1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pic>
        <p:nvPicPr>
          <p:cNvPr id="157" name="Picture 6"/>
          <p:cNvPicPr/>
          <p:nvPr/>
        </p:nvPicPr>
        <p:blipFill>
          <a:blip r:embed="rId3"/>
          <a:stretch/>
        </p:blipFill>
        <p:spPr>
          <a:xfrm>
            <a:off x="8372880" y="5976000"/>
            <a:ext cx="704880" cy="6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 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C0ED1295-0A04-4F63-A08D-E98E18A7C7A2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60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61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62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3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64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66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79280" y="44280"/>
            <a:ext cx="799272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pic>
        <p:nvPicPr>
          <p:cNvPr id="168" name="Picture 3"/>
          <p:cNvPicPr/>
          <p:nvPr/>
        </p:nvPicPr>
        <p:blipFill>
          <a:blip r:embed="rId3"/>
          <a:stretch/>
        </p:blipFill>
        <p:spPr>
          <a:xfrm>
            <a:off x="8372880" y="5976000"/>
            <a:ext cx="704880" cy="6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Picture 4"/>
          <p:cNvPicPr/>
          <p:nvPr/>
        </p:nvPicPr>
        <p:blipFill>
          <a:blip r:embed="rId4"/>
          <a:stretch/>
        </p:blipFill>
        <p:spPr>
          <a:xfrm>
            <a:off x="8525520" y="6128640"/>
            <a:ext cx="704880" cy="6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 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37FC619A-8D00-470B-B613-FB2676DCD021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72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73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74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75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76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pic>
        <p:nvPicPr>
          <p:cNvPr id="178" name="Picture 1"/>
          <p:cNvPicPr/>
          <p:nvPr/>
        </p:nvPicPr>
        <p:blipFill>
          <a:blip r:embed="rId3"/>
          <a:stretch/>
        </p:blipFill>
        <p:spPr>
          <a:xfrm>
            <a:off x="8372880" y="5976000"/>
            <a:ext cx="704880" cy="6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 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AA23632E-E83C-4E9F-A9B5-2DEA50AB8AF5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81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82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83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84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85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6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2000" b="1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61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1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pic>
        <p:nvPicPr>
          <p:cNvPr id="190" name="Picture 4"/>
          <p:cNvPicPr/>
          <p:nvPr/>
        </p:nvPicPr>
        <p:blipFill>
          <a:blip r:embed="rId3"/>
          <a:stretch/>
        </p:blipFill>
        <p:spPr>
          <a:xfrm>
            <a:off x="8372880" y="5976000"/>
            <a:ext cx="704880" cy="6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IEEE 802.15.4e: a Building Block for the Internet of Things 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41274A29-3F21-4F93-BAFC-5F810D42DFC6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27"/>
          <p:cNvSpPr/>
          <p:nvPr/>
        </p:nvSpPr>
        <p:spPr>
          <a:xfrm>
            <a:off x="-36360" y="-27000"/>
            <a:ext cx="8280000" cy="793440"/>
          </a:xfrm>
          <a:custGeom>
            <a:avLst/>
            <a:gdLst>
              <a:gd name="textAreaLeft" fmla="*/ 0 w 8280000"/>
              <a:gd name="textAreaRight" fmla="*/ 8280360 w 8280000"/>
              <a:gd name="textAreaTop" fmla="*/ 0 h 793440"/>
              <a:gd name="textAreaBottom" fmla="*/ 793800 h 793440"/>
              <a:gd name="GluePoint1X" fmla="*/ 4990 w 0"/>
              <a:gd name="GluePoint1Y" fmla="*/ 499 h 0"/>
              <a:gd name="GluePoint2X" fmla="logwidth"/>
              <a:gd name="GluePoint2Y" fmla="*/ 499 h 0"/>
              <a:gd name="GluePoint3X" fmla="logwidth"/>
              <a:gd name="GluePoint3Y" fmla="logwidth"/>
              <a:gd name="GluePoint4X" fmla="*/ 5063 w 0"/>
              <a:gd name="GluePoint4Y" fmla="*/ 5 h 0"/>
              <a:gd name="GluePoint5X" fmla="*/ 5219 w 0"/>
              <a:gd name="GluePoint5Y" fmla="*/ 5 h 0"/>
              <a:gd name="GluePoint6X" fmla="*/ 4990 w 0"/>
              <a:gd name="GluePoint6Y" fmla="*/ 497 h 0"/>
              <a:gd name="GluePoint7X" fmla="*/ 4988 w 0"/>
              <a:gd name="GluePoint7Y" fmla="*/ 497 h 0"/>
              <a:gd name="GluePoint8X" fmla="*/ 4990 w 0"/>
              <a:gd name="GluePoint8Y" fmla="*/ 499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grpSp>
        <p:nvGrpSpPr>
          <p:cNvPr id="193" name="Group 33"/>
          <p:cNvGrpSpPr/>
          <p:nvPr/>
        </p:nvGrpSpPr>
        <p:grpSpPr>
          <a:xfrm>
            <a:off x="8244000" y="0"/>
            <a:ext cx="761760" cy="959040"/>
            <a:chOff x="8244000" y="0"/>
            <a:chExt cx="761760" cy="959040"/>
          </a:xfrm>
        </p:grpSpPr>
        <p:grpSp>
          <p:nvGrpSpPr>
            <p:cNvPr id="194" name="Group 34"/>
            <p:cNvGrpSpPr/>
            <p:nvPr/>
          </p:nvGrpSpPr>
          <p:grpSpPr>
            <a:xfrm>
              <a:off x="8244000" y="0"/>
              <a:ext cx="761760" cy="914040"/>
              <a:chOff x="8244000" y="0"/>
              <a:chExt cx="761760" cy="914040"/>
            </a:xfrm>
          </p:grpSpPr>
          <p:pic>
            <p:nvPicPr>
              <p:cNvPr id="195" name="Picture 35" descr="images-3"/>
              <p:cNvPicPr/>
              <p:nvPr/>
            </p:nvPicPr>
            <p:blipFill>
              <a:blip r:embed="rId2"/>
              <a:stretch/>
            </p:blipFill>
            <p:spPr>
              <a:xfrm>
                <a:off x="8244000" y="0"/>
                <a:ext cx="761760" cy="76176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96" name="Rectangle 36"/>
              <p:cNvSpPr/>
              <p:nvPr/>
            </p:nvSpPr>
            <p:spPr>
              <a:xfrm>
                <a:off x="8244000" y="762120"/>
                <a:ext cx="761760" cy="15192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endParaRPr lang="it-IT" sz="4000" b="0" u="none" strike="noStrike">
                  <a:solidFill>
                    <a:schemeClr val="lt1"/>
                  </a:solidFill>
                  <a:effectLst/>
                  <a:uFillTx/>
                  <a:latin typeface="Franklin Gothic Heavy"/>
                </a:endParaRPr>
              </a:p>
            </p:txBody>
          </p:sp>
        </p:grpSp>
        <p:sp>
          <p:nvSpPr>
            <p:cNvPr id="197" name="Text Box 37"/>
            <p:cNvSpPr/>
            <p:nvPr/>
          </p:nvSpPr>
          <p:spPr>
            <a:xfrm>
              <a:off x="8244000" y="685800"/>
              <a:ext cx="752400" cy="273240"/>
            </a:xfrm>
            <a:prstGeom prst="rect">
              <a:avLst/>
            </a:prstGeom>
            <a:noFill/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300" b="1" u="none" strike="noStrike">
                  <a:solidFill>
                    <a:srgbClr val="003366"/>
                  </a:solidFill>
                  <a:effectLst/>
                  <a:uFillTx/>
                  <a:latin typeface="Courier New"/>
                </a:rPr>
                <a:t> </a:t>
              </a:r>
              <a:r>
                <a:rPr lang="en-US" sz="1200" b="1" u="none" strike="noStrike">
                  <a:solidFill>
                    <a:srgbClr val="000080"/>
                  </a:solidFill>
                  <a:effectLst/>
                  <a:uFillTx/>
                  <a:latin typeface="Courier New"/>
                </a:rPr>
                <a:t>PerLab</a:t>
              </a:r>
              <a:endParaRPr lang="it-IT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" name="Rectangle 39"/>
          <p:cNvSpPr/>
          <p:nvPr/>
        </p:nvSpPr>
        <p:spPr>
          <a:xfrm>
            <a:off x="0" y="6669000"/>
            <a:ext cx="9143640" cy="188640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2000" b="1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Click to edit the outline text format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Second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Third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Fourth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Fifth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Sixth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Seventh Outline Level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1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pic>
        <p:nvPicPr>
          <p:cNvPr id="202" name="Picture 4"/>
          <p:cNvPicPr/>
          <p:nvPr/>
        </p:nvPicPr>
        <p:blipFill>
          <a:blip r:embed="rId3"/>
          <a:stretch/>
        </p:blipFill>
        <p:spPr>
          <a:xfrm>
            <a:off x="8372880" y="5976000"/>
            <a:ext cx="704880" cy="6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AutoShape 4"/>
          <p:cNvSpPr/>
          <p:nvPr/>
        </p:nvSpPr>
        <p:spPr>
          <a:xfrm>
            <a:off x="324000" y="1052640"/>
            <a:ext cx="8496000" cy="2592000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04" name="AutoShape 5"/>
          <p:cNvSpPr/>
          <p:nvPr/>
        </p:nvSpPr>
        <p:spPr>
          <a:xfrm>
            <a:off x="539640" y="4292640"/>
            <a:ext cx="8064000" cy="1860120"/>
          </a:xfrm>
          <a:prstGeom prst="roundRect">
            <a:avLst>
              <a:gd name="adj" fmla="val 6986"/>
            </a:avLst>
          </a:prstGeom>
          <a:solidFill>
            <a:schemeClr val="lt1">
              <a:alpha val="7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68360" y="1268280"/>
            <a:ext cx="8135640" cy="216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68360" y="1628640"/>
            <a:ext cx="8229240" cy="4957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61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79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24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4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638760" y="274680"/>
            <a:ext cx="2058480" cy="6311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28920" cy="6311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61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79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24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4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68360" y="1628640"/>
            <a:ext cx="8229240" cy="4957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61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79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24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4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1" u="none" strike="noStrike" cap="all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it-IT" sz="20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68360" y="1628640"/>
            <a:ext cx="4038120" cy="4957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79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4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6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1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4659480" y="1628640"/>
            <a:ext cx="4038120" cy="49575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8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79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4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6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1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6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1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00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360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1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1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2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16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6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2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2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400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360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1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1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32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16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16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32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16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16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000" b="0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2000" b="1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61"/>
              </a:spcBef>
              <a:buClr>
                <a:srgbClr val="006666"/>
              </a:buClr>
              <a:buFont typeface="Wingdings" charset="2"/>
              <a:buChar char=""/>
            </a:pPr>
            <a:r>
              <a:rPr lang="it-IT" sz="28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Secondo livello</a:t>
            </a:r>
            <a:endParaRPr lang="it-IT" sz="28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79"/>
              </a:spcBef>
              <a:buClr>
                <a:srgbClr val="4d4d4d"/>
              </a:buClr>
              <a:buFont typeface="Wingdings" charset="2"/>
              <a:buChar char=""/>
            </a:pPr>
            <a:r>
              <a:rPr lang="it-IT" sz="24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Terzo livello</a:t>
            </a:r>
            <a:endParaRPr lang="it-IT" sz="24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844640" lvl="3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Symbol" charset="2"/>
              <a:buChar char="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Quarto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252520" lvl="4" indent="-228600">
              <a:lnSpc>
                <a:spcPct val="100000"/>
              </a:lnSpc>
              <a:spcBef>
                <a:spcPts val="400"/>
              </a:spcBef>
              <a:buClr>
                <a:srgbClr val="4d4d4d"/>
              </a:buClr>
              <a:buFont typeface="OpenSymbol"/>
              <a:buChar char="»"/>
            </a:pPr>
            <a:r>
              <a:rPr lang="it-IT" sz="20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Quinto livello</a:t>
            </a:r>
            <a:endParaRPr lang="it-IT" sz="20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1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2000" b="1" u="none" strike="noStrike">
                <a:solidFill>
                  <a:srgbClr val="000080"/>
                </a:solidFill>
                <a:effectLst/>
                <a:uFillTx/>
                <a:latin typeface="Franklin Gothic Demi Cond"/>
              </a:rPr>
              <a:t>Fare clic per modificare lo stile del titolo</a:t>
            </a:r>
            <a:endParaRPr lang="it-IT" sz="2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Click to edit the outline text format</a:t>
            </a:r>
            <a:endParaRPr lang="it-IT" sz="3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32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Second Outline Level</a:t>
            </a:r>
            <a:endParaRPr lang="it-IT" sz="32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Third Outline Level</a:t>
            </a:r>
            <a:endParaRPr lang="it-IT" sz="32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32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Fourth Outline Level</a:t>
            </a:r>
            <a:endParaRPr lang="it-IT" sz="32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Fifth Outline Level</a:t>
            </a:r>
            <a:endParaRPr lang="it-IT" sz="32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Sixth Outline Level</a:t>
            </a:r>
            <a:endParaRPr lang="it-IT" sz="32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chemeClr val="hlink"/>
                </a:solidFill>
                <a:effectLst/>
                <a:uFillTx/>
                <a:latin typeface="Franklin Gothic Medium"/>
              </a:rPr>
              <a:t>Seventh Outline Level</a:t>
            </a:r>
            <a:endParaRPr lang="it-IT" sz="3200" b="0" u="none" strike="noStrike">
              <a:solidFill>
                <a:schemeClr val="hlink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it-IT" sz="1400" b="0" u="none" strike="noStrike">
                <a:solidFill>
                  <a:schemeClr val="dk1"/>
                </a:solidFill>
                <a:effectLst/>
                <a:uFillTx/>
                <a:latin typeface="Franklin Gothic Medium"/>
              </a:rPr>
              <a:t>Fare clic per modificare stili del testo dello schema</a:t>
            </a:r>
            <a:endParaRPr lang="it-IT" sz="14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323640" y="404640"/>
            <a:ext cx="8496720" cy="2606400"/>
          </a:xfrm>
          <a:prstGeom prst="rect">
            <a:avLst/>
          </a:prstGeom>
          <a:noFill/>
          <a:ln w="9360">
            <a:noFill/>
          </a:ln>
          <a:effectLst>
            <a:outerShdw dist="35638" dir="2700000" rotWithShape="0">
              <a:srgbClr val="000000">
                <a:alpha val="50000"/>
              </a:srgbClr>
            </a:outerShdw>
          </a:effectLst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400" b="0" u="none" strike="noStrike">
                <a:solidFill>
                  <a:schemeClr val="lt1"/>
                </a:solidFill>
                <a:effectLst/>
                <a:uFillTx/>
                <a:latin typeface="Franklin Gothic Demi"/>
              </a:rPr>
              <a:t>Algoritmo Ottimo per il calcolo del Logaritmo</a:t>
            </a:r>
            <a:endParaRPr lang="it-IT" sz="44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pic>
        <p:nvPicPr>
          <p:cNvPr id="236" name="Picture 34" descr="marchio_unipi_pant541_288"/>
          <p:cNvPicPr/>
          <p:nvPr/>
        </p:nvPicPr>
        <p:blipFill>
          <a:blip r:embed="rId1"/>
          <a:stretch/>
        </p:blipFill>
        <p:spPr>
          <a:xfrm>
            <a:off x="3611520" y="5445360"/>
            <a:ext cx="1920600" cy="10202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7" name="PlaceHolder 2"/>
          <p:cNvSpPr>
            <a:spLocks noGrp="1"/>
          </p:cNvSpPr>
          <p:nvPr>
            <p:ph type="subTitle"/>
          </p:nvPr>
        </p:nvSpPr>
        <p:spPr>
          <a:xfrm>
            <a:off x="539640" y="3285000"/>
            <a:ext cx="8064000" cy="1812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561"/>
              </a:spcBef>
              <a:tabLst>
                <a:tab algn="l" pos="0"/>
              </a:tabLst>
            </a:pP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60"/>
              </a:spcBef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60"/>
              </a:spcBef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320"/>
              </a:spcBef>
              <a:tabLst>
                <a:tab algn="l" pos="0"/>
              </a:tabLst>
            </a:pP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"/>
          <p:cNvSpPr/>
          <p:nvPr/>
        </p:nvSpPr>
        <p:spPr>
          <a:xfrm>
            <a:off x="2126880" y="3098520"/>
            <a:ext cx="5711760" cy="12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3600" b="0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Tesi di Laurea in </a:t>
            </a:r>
            <a:endParaRPr lang="it-IT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0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Ingegneria Informatica</a:t>
            </a:r>
            <a:endParaRPr lang="it-I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520560" y="4634280"/>
            <a:ext cx="216864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it-IT" sz="2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Candidato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7480" algn="just">
              <a:lnSpc>
                <a:spcPct val="100000"/>
              </a:lnSpc>
            </a:pPr>
            <a:r>
              <a:rPr lang="it-IT" sz="2000" b="0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Giuliano Pardini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6084000" y="4591440"/>
            <a:ext cx="295200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it-IT" sz="2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Relatori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7480" algn="just">
              <a:lnSpc>
                <a:spcPct val="100000"/>
              </a:lnSpc>
            </a:pPr>
            <a:r>
              <a:rPr lang="it-IT" sz="2000" b="0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Prof. Mario Cimino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827640" y="44280"/>
            <a:ext cx="734436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Introduzione e Problema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250920" y="919440"/>
            <a:ext cx="86421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Logistica “dell’ultimo miglio” → 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Come calcolare il logaritmo (decimale) di un numero in modo da minimizzare il tempo di calcolo?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</a:pP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</a:pP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43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Nome e Cognome del Candidato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660134C0-F866-4A8B-B15B-DE58553E3229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27640" y="44280"/>
            <a:ext cx="734436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Soluzioni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250920" y="981000"/>
            <a:ext cx="86421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Metodo tabellare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Consultazione di tabella pre-compilata 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Regolo Calcolatore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Calcolo mediante l’uso del regolo calcolatore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Smartphone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Utilizzo della calcolatrice disponibile sullo smartphone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Programma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Scrittura ed esecuzione di un programma in C++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46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Nome e Cognome del Candidato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9F573F58-0C5D-429D-810F-07E6B25A3204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827640" y="44280"/>
            <a:ext cx="7344360" cy="720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r" pos="7897680"/>
                <a:tab algn="r" pos="8613720"/>
              </a:tabLst>
            </a:pPr>
            <a:r>
              <a:rPr lang="it-IT" sz="4000" b="0" u="none" strike="noStrike">
                <a:solidFill>
                  <a:schemeClr val="lt1"/>
                </a:solidFill>
                <a:effectLst/>
                <a:uFillTx/>
                <a:latin typeface="Franklin Gothic Demi Cond"/>
              </a:rPr>
              <a:t>Risultati</a:t>
            </a:r>
            <a:endParaRPr lang="it-IT" sz="4000" b="0" u="none" strike="noStrike">
              <a:solidFill>
                <a:schemeClr val="lt1"/>
              </a:solidFill>
              <a:effectLst/>
              <a:uFillTx/>
              <a:latin typeface="Franklin Gothic Heavy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250920" y="981000"/>
            <a:ext cx="8642160" cy="576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it-IT" sz="3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Tempi di calcolo sperimentati con le varie soluzioni</a:t>
            </a:r>
            <a:endParaRPr lang="it-IT" sz="30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Metodo Tabellare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Tabella non disponibile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Regolo Calcolatore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Metodo sconosciuto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Smartphone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sec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793800" lvl="1" indent="-271440">
              <a:lnSpc>
                <a:spcPct val="100000"/>
              </a:lnSpc>
              <a:spcBef>
                <a:spcPts val="519"/>
              </a:spcBef>
              <a:buClr>
                <a:srgbClr val="000080"/>
              </a:buClr>
              <a:buFont typeface="Wingdings" charset="2"/>
              <a:buChar char=""/>
            </a:pPr>
            <a:r>
              <a:rPr lang="it-IT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Programma in C++</a:t>
            </a:r>
            <a:endParaRPr lang="it-IT" sz="26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 sec per esecuzione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  <a:p>
            <a:pPr marL="1436760" lvl="2" indent="-3636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Wingdings" charset="2"/>
              <a:buChar char=""/>
            </a:pPr>
            <a:r>
              <a:rPr lang="it-IT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 giorno per scrivere e debuggare algoritmo</a:t>
            </a:r>
            <a:endParaRPr lang="it-IT" sz="2200" b="0" u="none" strike="noStrike">
              <a:solidFill>
                <a:schemeClr val="dk1"/>
              </a:solidFill>
              <a:effectLst/>
              <a:uFillTx/>
              <a:latin typeface="Franklin Gothic Medium"/>
            </a:endParaRPr>
          </a:p>
        </p:txBody>
      </p:sp>
      <p:sp>
        <p:nvSpPr>
          <p:cNvPr id="249" name="Segnaposto piè di pagina 3"/>
          <p:cNvSpPr/>
          <p:nvPr/>
        </p:nvSpPr>
        <p:spPr>
          <a:xfrm>
            <a:off x="17640" y="6624720"/>
            <a:ext cx="9126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100" b="0" i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Nome e Cognome del Candidato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	</a:t>
            </a:r>
            <a:fld id="{7896D04C-D2E2-49E1-8F62-1105B4394107}" type="slidenum">
              <a:rPr lang="en-US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uttura predefinita">
  <a:themeElements>
    <a:clrScheme name="Struttura predefinita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009999"/>
      </a:hlink>
      <a:folHlink>
        <a:srgbClr val="006666"/>
      </a:folHlink>
    </a:clrScheme>
    <a:fontScheme name="Struttura predefinita">
      <a:majorFont>
        <a:latin typeface="Franklin Gothic Demi Cond" pitchFamily="0" charset="1"/>
        <a:ea typeface=""/>
        <a:cs typeface=""/>
      </a:majorFont>
      <a:minorFont>
        <a:latin typeface="Franklin Gothic Medium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utline">
  <a:themeElements>
    <a:clrScheme name="Outline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4d4d4d"/>
      </a:hlink>
      <a:folHlink>
        <a:srgbClr val="006666"/>
      </a:folHlink>
    </a:clrScheme>
    <a:fontScheme name="Outline">
      <a:majorFont>
        <a:latin typeface="Franklin Gothic Demi Cond" pitchFamily="0" charset="1"/>
        <a:ea typeface=""/>
        <a:cs typeface=""/>
      </a:majorFont>
      <a:minorFont>
        <a:latin typeface="Franklin Gothic Medium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30648</TotalTime>
  <Application>LibreOffice/25.8.4.2$Linux_X86_64 LibreOffice_project/580$Build-2</Application>
  <AppVersion>15.0000</AppVersion>
  <Words>146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2005-03-30T13:34:00Z</dcterms:created>
  <dc:creator>Mdf</dc:creator>
  <dc:description/>
  <dc:language>it-IT</dc:language>
  <cp:lastModifiedBy/>
  <cp:lastPrinted>2016-05-24T07:18:58Z</cp:lastPrinted>
  <dcterms:modified xsi:type="dcterms:W3CDTF">2026-02-16T15:28:20Z</dcterms:modified>
  <cp:revision>1209</cp:revision>
  <dc:subject/>
  <dc:title>Progetto e valutazione di un protocollo di power management per reti di sensori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Presentazione su schermo (4:3)</vt:lpwstr>
  </property>
  <property fmtid="{D5CDD505-2E9C-101B-9397-08002B2CF9AE}" pid="4" name="Slides">
    <vt:i4>4</vt:i4>
  </property>
</Properties>
</file>